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9" r:id="rId4"/>
    <p:sldId id="270" r:id="rId5"/>
    <p:sldId id="269" r:id="rId6"/>
    <p:sldId id="264" r:id="rId7"/>
    <p:sldId id="261" r:id="rId8"/>
    <p:sldId id="266" r:id="rId9"/>
    <p:sldId id="267" r:id="rId10"/>
    <p:sldId id="262" r:id="rId11"/>
    <p:sldId id="265" r:id="rId12"/>
    <p:sldId id="268" r:id="rId13"/>
  </p:sldIdLst>
  <p:sldSz cx="12192000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7" autoAdjust="0"/>
  </p:normalViewPr>
  <p:slideViewPr>
    <p:cSldViewPr snapToGrid="0">
      <p:cViewPr varScale="1">
        <p:scale>
          <a:sx n="81" d="100"/>
          <a:sy n="81" d="100"/>
        </p:scale>
        <p:origin x="9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A0B1C7-363D-4DB7-B6ED-A49DD941513F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36AAC0A-1996-4814-87CF-B316AF3AD545}" type="slidenum">
              <a:t>‹N°›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701F271-FA44-4C61-91FC-E532FD3EECC2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315740-8F91-4B53-BE14-1571FD2645F3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CF0455-9FDE-491E-9F77-5087CD19879A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8FE8C-6DA5-46F4-8D26-7AD1F53053C6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4FE9DC-74DD-4589-AFA0-1E785D1EC3B4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7DF023C-36C4-4873-8E46-A9B7D8DBBBA2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F0F3325-353B-46FE-9E7D-5FAEDDDEF69C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75D7052-69B8-422E-874B-D4412CA1019F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47E8E6-3BC6-42CB-A1B7-D0EDC750522F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932D4C4-75FD-483D-937D-B4963CF380D5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9146CBE-1D2E-4A1C-AD47-C29B71468271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D519648-B7B4-4888-9718-D01674A286D1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38F14CB-AB0C-45B7-97CF-EC07360F9232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858E3AC-9CDF-46EC-842B-AC9D5133511A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500B794-6427-4313-BB55-FE5B9747D8CB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04D8BC5-5F8D-4BD5-8EBA-050E8DB12870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A846E4E-8DE5-416D-923E-C307AC3B1E27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55C58C5-F49E-4402-80F7-67BE9C737334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3DBD573-679C-4175-99A6-A57752516710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51F4D3F-AD40-45B8-81C2-BEACB30AE24C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CE58A30-BC58-4CF8-837E-863F0B6F735C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61A35A9-7EE4-4F01-924E-99348E58768F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fr-FR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fr-FR" sz="1400" b="0" strike="noStrike" spc="-1"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A6AE0F-1BC8-4585-AEE1-5C05A2C76BD3}" type="slidenum">
              <a:rPr lang="fr-FR" sz="1200" b="0" strike="noStrike" spc="-1">
                <a:solidFill>
                  <a:srgbClr val="8B8B8B"/>
                </a:solidFill>
                <a:latin typeface="Calibri"/>
              </a:rPr>
              <a:t>‹N°›</a:t>
            </a:fld>
            <a:endParaRPr lang="fr-FR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fr-FR" sz="1400" b="0" strike="noStrike" spc="-1">
                <a:latin typeface="Times New Roman"/>
              </a:defRPr>
            </a:lvl1pPr>
          </a:lstStyle>
          <a:p>
            <a:r>
              <a:rPr lang="fr-FR" sz="1400" b="0" strike="noStrike" spc="-1"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fr-FR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fr-FR" sz="1400" b="0" strike="noStrike" spc="-1">
                <a:latin typeface="Times New Roman"/>
              </a:rPr>
              <a:t>&lt;pied de page&gt;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545EC5-CEDE-4DD3-9529-D0E91C77E068}" type="slidenum">
              <a:rPr lang="fr-FR" sz="1200" b="0" strike="noStrike" spc="-1">
                <a:solidFill>
                  <a:srgbClr val="8B8B8B"/>
                </a:solidFill>
                <a:latin typeface="Calibri"/>
              </a:rPr>
              <a:t>‹N°›</a:t>
            </a:fld>
            <a:endParaRPr lang="fr-FR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fr-FR" sz="1400" b="0" strike="noStrike" spc="-1">
                <a:latin typeface="Times New Roman"/>
              </a:defRPr>
            </a:lvl1pPr>
          </a:lstStyle>
          <a:p>
            <a:r>
              <a:rPr lang="fr-FR" sz="1400" b="0" strike="noStrike" spc="-1">
                <a:latin typeface="Times New Roman"/>
              </a:rPr>
              <a:t>&lt;date/heure&gt;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.png"/><Relationship Id="rId5" Type="http://schemas.openxmlformats.org/officeDocument/2006/relationships/image" Target="../media/image22.png"/><Relationship Id="rId10" Type="http://schemas.openxmlformats.org/officeDocument/2006/relationships/image" Target="../media/image18.jpe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2567160"/>
            <a:ext cx="9143280" cy="94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fr-FR" sz="6000" b="1" strike="noStrike" spc="-1" dirty="0">
                <a:solidFill>
                  <a:srgbClr val="000000"/>
                </a:solidFill>
                <a:latin typeface="Arial"/>
              </a:rPr>
              <a:t>Soundfest</a:t>
            </a:r>
            <a:endParaRPr lang="fr-FR" sz="6000" b="0" strike="noStrike" spc="-1" dirty="0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568604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strike="noStrike" spc="-1" dirty="0">
                <a:solidFill>
                  <a:srgbClr val="000000"/>
                </a:solidFill>
                <a:latin typeface="Arial"/>
              </a:rPr>
              <a:t>Projet : </a:t>
            </a:r>
            <a:r>
              <a:rPr lang="fr-FR" sz="2400" b="0" i="1" strike="noStrike" spc="-1" dirty="0">
                <a:solidFill>
                  <a:srgbClr val="000000"/>
                </a:solidFill>
                <a:latin typeface="Arial"/>
              </a:rPr>
              <a:t>Contrôle du niveau sonore lors de concerts ou festivals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fr-FR" sz="2400" i="1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spc="-1" dirty="0">
                <a:solidFill>
                  <a:srgbClr val="000000"/>
                </a:solidFill>
                <a:latin typeface="Arial"/>
              </a:rPr>
              <a:t>Projet r</a:t>
            </a:r>
            <a:r>
              <a:rPr lang="fr-FR" sz="2400" b="0" strike="noStrike" spc="-1" dirty="0">
                <a:solidFill>
                  <a:srgbClr val="000000"/>
                </a:solidFill>
                <a:latin typeface="Arial"/>
              </a:rPr>
              <a:t>éalisé par l’équipe </a:t>
            </a:r>
            <a:r>
              <a:rPr lang="fr-FR" sz="2400" b="0" strike="noStrike" spc="-1" dirty="0" err="1">
                <a:solidFill>
                  <a:srgbClr val="000000"/>
                </a:solidFill>
                <a:latin typeface="Arial"/>
              </a:rPr>
              <a:t>Teamfest</a:t>
            </a:r>
            <a:endParaRPr lang="fr-FR" sz="2400" b="0" strike="noStrike" spc="-1" dirty="0">
              <a:latin typeface="Arial"/>
            </a:endParaRPr>
          </a:p>
        </p:txBody>
      </p:sp>
      <p:pic>
        <p:nvPicPr>
          <p:cNvPr id="84" name="Picture 2" descr="https://lumaa.fr/static/Untitled.png"/>
          <p:cNvPicPr/>
          <p:nvPr/>
        </p:nvPicPr>
        <p:blipFill>
          <a:blip r:embed="rId2"/>
          <a:srcRect r="50001"/>
          <a:stretch/>
        </p:blipFill>
        <p:spPr>
          <a:xfrm>
            <a:off x="4573080" y="-42840"/>
            <a:ext cx="3044880" cy="3044880"/>
          </a:xfrm>
          <a:prstGeom prst="rect">
            <a:avLst/>
          </a:prstGeom>
          <a:ln w="0"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E4F0BB-F341-40B1-BF33-2E607840C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4" y="5940810"/>
            <a:ext cx="2294363" cy="7491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7337F12-3281-4934-A5EF-11F5BBBF482A}"/>
              </a:ext>
            </a:extLst>
          </p:cNvPr>
          <p:cNvSpPr txBox="1"/>
          <p:nvPr/>
        </p:nvSpPr>
        <p:spPr>
          <a:xfrm>
            <a:off x="10120589" y="6315400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Nathan / </a:t>
            </a:r>
            <a:r>
              <a:rPr lang="fr-FR" b="1" dirty="0" err="1"/>
              <a:t>Lumaa</a:t>
            </a:r>
            <a:endParaRPr lang="fr-FR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68235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fr-FR" sz="4400" b="0" strike="noStrike" spc="-1" dirty="0">
                <a:solidFill>
                  <a:srgbClr val="000000"/>
                </a:solidFill>
                <a:latin typeface="Arial"/>
              </a:rPr>
              <a:t>Problématique</a:t>
            </a:r>
            <a:endParaRPr lang="fr-FR" sz="4400" b="0" strike="noStrike" spc="-1" dirty="0">
              <a:latin typeface="Arial"/>
            </a:endParaRPr>
          </a:p>
        </p:txBody>
      </p:sp>
      <p:pic>
        <p:nvPicPr>
          <p:cNvPr id="95" name="Picture 7" descr="https://lumaa.fr/static/IMG_5021.jpeg"/>
          <p:cNvPicPr/>
          <p:nvPr/>
        </p:nvPicPr>
        <p:blipFill>
          <a:blip r:embed="rId2"/>
          <a:stretch/>
        </p:blipFill>
        <p:spPr>
          <a:xfrm rot="5400000">
            <a:off x="8165520" y="2508480"/>
            <a:ext cx="4552200" cy="341388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8" descr="https://lumaa.fr/static/488186220_18490837759001307_3174083078499854263_n.jpeg"/>
          <p:cNvPicPr/>
          <p:nvPr/>
        </p:nvPicPr>
        <p:blipFill>
          <a:blip r:embed="rId3"/>
          <a:stretch/>
        </p:blipFill>
        <p:spPr>
          <a:xfrm>
            <a:off x="4129920" y="1940040"/>
            <a:ext cx="4552200" cy="455220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9" descr="https://lumaa.fr/static/488842969_18490837714001307_110534755856350244_n.jpeg"/>
          <p:cNvPicPr/>
          <p:nvPr/>
        </p:nvPicPr>
        <p:blipFill>
          <a:blip r:embed="rId4"/>
          <a:srcRect l="11402"/>
          <a:stretch/>
        </p:blipFill>
        <p:spPr>
          <a:xfrm>
            <a:off x="43200" y="1940040"/>
            <a:ext cx="4033080" cy="4552200"/>
          </a:xfrm>
          <a:prstGeom prst="rect">
            <a:avLst/>
          </a:prstGeom>
          <a:ln w="0">
            <a:noFill/>
          </a:ln>
        </p:spPr>
      </p:pic>
      <p:pic>
        <p:nvPicPr>
          <p:cNvPr id="98" name="Image 97"/>
          <p:cNvPicPr/>
          <p:nvPr/>
        </p:nvPicPr>
        <p:blipFill>
          <a:blip r:embed="rId5"/>
          <a:stretch/>
        </p:blipFill>
        <p:spPr>
          <a:xfrm>
            <a:off x="4587242" y="0"/>
            <a:ext cx="7595640" cy="2081880"/>
          </a:xfrm>
          <a:prstGeom prst="rect">
            <a:avLst/>
          </a:prstGeom>
          <a:ln w="0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22AAD77-193A-4901-BDC7-1FAEB8E145D7}"/>
              </a:ext>
            </a:extLst>
          </p:cNvPr>
          <p:cNvSpPr txBox="1"/>
          <p:nvPr/>
        </p:nvSpPr>
        <p:spPr>
          <a:xfrm>
            <a:off x="6177777" y="180374"/>
            <a:ext cx="5542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 dB                               90 dB                         120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78F45F-3CE9-4027-B3C3-7D5E5F9E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trouvée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6EC6B5-F10A-4C4A-87CA-FFECF9937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498" y="1490779"/>
            <a:ext cx="9139004" cy="38764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FC3EBC6-61D5-43B3-A0E0-3C479DD838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099" y="1540959"/>
            <a:ext cx="1663801" cy="16604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E030721-6DBA-44B7-BB0B-F1A3F0ABF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48" y="1066036"/>
            <a:ext cx="680703" cy="704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EE874C-ED0C-4B8C-8947-0EF0107568B1}"/>
              </a:ext>
            </a:extLst>
          </p:cNvPr>
          <p:cNvSpPr txBox="1"/>
          <p:nvPr/>
        </p:nvSpPr>
        <p:spPr>
          <a:xfrm>
            <a:off x="2118731" y="4014439"/>
            <a:ext cx="1091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Scène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0C2F13-211D-4994-9AE6-72208A59EDF8}"/>
              </a:ext>
            </a:extLst>
          </p:cNvPr>
          <p:cNvSpPr txBox="1"/>
          <p:nvPr/>
        </p:nvSpPr>
        <p:spPr>
          <a:xfrm>
            <a:off x="8981305" y="4245271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Régie</a:t>
            </a:r>
          </a:p>
        </p:txBody>
      </p:sp>
    </p:spTree>
    <p:extLst>
      <p:ext uri="{BB962C8B-B14F-4D97-AF65-F5344CB8AC3E}">
        <p14:creationId xmlns:p14="http://schemas.microsoft.com/office/powerpoint/2010/main" val="394749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41379-B617-4241-9535-7B2D665C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85" y="395009"/>
            <a:ext cx="1230350" cy="1144800"/>
          </a:xfrm>
        </p:spPr>
        <p:txBody>
          <a:bodyPr/>
          <a:lstStyle/>
          <a:p>
            <a:r>
              <a:rPr lang="fr-FR" dirty="0"/>
              <a:t>BDD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4B8A39-68BF-4519-8811-1E65071EA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84" y="1221771"/>
            <a:ext cx="10283687" cy="5096519"/>
          </a:xfrm>
          <a:prstGeom prst="rect">
            <a:avLst/>
          </a:prstGeom>
        </p:spPr>
      </p:pic>
      <p:pic>
        <p:nvPicPr>
          <p:cNvPr id="4" name="Picture 2" descr="https://lumaa.fr/static/Untitled.png">
            <a:extLst>
              <a:ext uri="{FF2B5EF4-FFF2-40B4-BE49-F238E27FC236}">
                <a16:creationId xmlns:a16="http://schemas.microsoft.com/office/drawing/2014/main" id="{F1CD9109-8BE9-4D51-BF2E-2D9A82A63C72}"/>
              </a:ext>
            </a:extLst>
          </p:cNvPr>
          <p:cNvPicPr/>
          <p:nvPr/>
        </p:nvPicPr>
        <p:blipFill>
          <a:blip r:embed="rId3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7802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379D933-2767-4FA6-9994-E428033A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22" y="163768"/>
            <a:ext cx="7646504" cy="6450951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ADA7D4CF-BF55-4645-983B-178EC885A9DD}"/>
              </a:ext>
            </a:extLst>
          </p:cNvPr>
          <p:cNvSpPr txBox="1">
            <a:spLocks/>
          </p:cNvSpPr>
          <p:nvPr/>
        </p:nvSpPr>
        <p:spPr>
          <a:xfrm>
            <a:off x="424070" y="344557"/>
            <a:ext cx="1188332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IBD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057A4E1-0BCC-4315-9534-501F4FC9D2B2}"/>
              </a:ext>
            </a:extLst>
          </p:cNvPr>
          <p:cNvSpPr/>
          <p:nvPr/>
        </p:nvSpPr>
        <p:spPr>
          <a:xfrm>
            <a:off x="3816627" y="821634"/>
            <a:ext cx="3922644" cy="27432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ulle narrative : rectangle à coins arrondis 8">
            <a:extLst>
              <a:ext uri="{FF2B5EF4-FFF2-40B4-BE49-F238E27FC236}">
                <a16:creationId xmlns:a16="http://schemas.microsoft.com/office/drawing/2014/main" id="{2E0AEF6F-3230-4AEC-A42B-78D0490F510B}"/>
              </a:ext>
            </a:extLst>
          </p:cNvPr>
          <p:cNvSpPr/>
          <p:nvPr/>
        </p:nvSpPr>
        <p:spPr>
          <a:xfrm rot="10800000" flipV="1">
            <a:off x="7288696" y="491561"/>
            <a:ext cx="1431235" cy="425396"/>
          </a:xfrm>
          <a:prstGeom prst="wedgeRoundRectCallout">
            <a:avLst>
              <a:gd name="adj1" fmla="val 49537"/>
              <a:gd name="adj2" fmla="val 1310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Moi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2F46F40-4160-489E-BFA9-8341A91E300B}"/>
              </a:ext>
            </a:extLst>
          </p:cNvPr>
          <p:cNvSpPr/>
          <p:nvPr/>
        </p:nvSpPr>
        <p:spPr>
          <a:xfrm>
            <a:off x="7600121" y="1861931"/>
            <a:ext cx="1616766" cy="2107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Bulle narrative : rectangle à coins arrondis 10">
            <a:extLst>
              <a:ext uri="{FF2B5EF4-FFF2-40B4-BE49-F238E27FC236}">
                <a16:creationId xmlns:a16="http://schemas.microsoft.com/office/drawing/2014/main" id="{B3965476-61FD-44F1-8D12-73160BAF7838}"/>
              </a:ext>
            </a:extLst>
          </p:cNvPr>
          <p:cNvSpPr/>
          <p:nvPr/>
        </p:nvSpPr>
        <p:spPr>
          <a:xfrm>
            <a:off x="8971722" y="1643270"/>
            <a:ext cx="1484243" cy="503582"/>
          </a:xfrm>
          <a:prstGeom prst="wedgeRoundRectCallout">
            <a:avLst>
              <a:gd name="adj1" fmla="val -41369"/>
              <a:gd name="adj2" fmla="val 86687"/>
              <a:gd name="adj3" fmla="val 16667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Sloan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33ABBDD-D4CE-47C7-A780-39AE289062AF}"/>
              </a:ext>
            </a:extLst>
          </p:cNvPr>
          <p:cNvSpPr/>
          <p:nvPr/>
        </p:nvSpPr>
        <p:spPr>
          <a:xfrm>
            <a:off x="4293704" y="4587137"/>
            <a:ext cx="3591339" cy="2067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Bulle narrative : rectangle à coins arrondis 12">
            <a:extLst>
              <a:ext uri="{FF2B5EF4-FFF2-40B4-BE49-F238E27FC236}">
                <a16:creationId xmlns:a16="http://schemas.microsoft.com/office/drawing/2014/main" id="{3DAB0E19-CB96-43C0-A5DC-9FD4FB4FFBC2}"/>
              </a:ext>
            </a:extLst>
          </p:cNvPr>
          <p:cNvSpPr/>
          <p:nvPr/>
        </p:nvSpPr>
        <p:spPr>
          <a:xfrm>
            <a:off x="3402496" y="4346713"/>
            <a:ext cx="1325217" cy="437322"/>
          </a:xfrm>
          <a:prstGeom prst="wedgeRoundRectCallout">
            <a:avLst>
              <a:gd name="adj1" fmla="val 40167"/>
              <a:gd name="adj2" fmla="val 92465"/>
              <a:gd name="adj3" fmla="val 16667"/>
            </a:avLst>
          </a:prstGeom>
          <a:solidFill>
            <a:schemeClr val="accent6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Clara</a:t>
            </a:r>
          </a:p>
        </p:txBody>
      </p:sp>
      <p:pic>
        <p:nvPicPr>
          <p:cNvPr id="14" name="Picture 2" descr="https://lumaa.fr/static/Untitled.png">
            <a:extLst>
              <a:ext uri="{FF2B5EF4-FFF2-40B4-BE49-F238E27FC236}">
                <a16:creationId xmlns:a16="http://schemas.microsoft.com/office/drawing/2014/main" id="{C7245D58-D2DA-492A-8934-3478DC67676A}"/>
              </a:ext>
            </a:extLst>
          </p:cNvPr>
          <p:cNvPicPr/>
          <p:nvPr/>
        </p:nvPicPr>
        <p:blipFill>
          <a:blip r:embed="rId3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6435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23946864-7B3B-4EC6-9072-E8B0878A651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278900"/>
            <a:ext cx="10972440" cy="1144800"/>
          </a:xfrm>
        </p:spPr>
        <p:txBody>
          <a:bodyPr/>
          <a:lstStyle/>
          <a:p>
            <a:r>
              <a:rPr lang="fr-FR" dirty="0"/>
              <a:t>Programmation avec une Arduino </a:t>
            </a:r>
            <a:r>
              <a:rPr lang="fr-FR" dirty="0" err="1"/>
              <a:t>Uno</a:t>
            </a:r>
            <a:r>
              <a:rPr lang="fr-FR" dirty="0"/>
              <a:t> en C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D35149-F002-444B-8EC6-F73568BF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Tâche : Gestion</a:t>
            </a:r>
          </a:p>
        </p:txBody>
      </p:sp>
      <p:pic>
        <p:nvPicPr>
          <p:cNvPr id="1028" name="Picture 4" descr="Carte Arduino Uno">
            <a:extLst>
              <a:ext uri="{FF2B5EF4-FFF2-40B4-BE49-F238E27FC236}">
                <a16:creationId xmlns:a16="http://schemas.microsoft.com/office/drawing/2014/main" id="{B61D8632-F09A-45D2-8FA9-1BA938A3B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14391" r="1807" b="15657"/>
          <a:stretch/>
        </p:blipFill>
        <p:spPr bwMode="auto">
          <a:xfrm>
            <a:off x="7454536" y="3429000"/>
            <a:ext cx="4127384" cy="301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31D165A-4262-4143-A066-0C3BD57BB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1" y="3716323"/>
            <a:ext cx="1904898" cy="221532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873BEFD-BC6F-476E-ADA2-31B237294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919" y="3726965"/>
            <a:ext cx="2452319" cy="2415717"/>
          </a:xfrm>
          <a:prstGeom prst="rect">
            <a:avLst/>
          </a:prstGeom>
        </p:spPr>
      </p:pic>
      <p:pic>
        <p:nvPicPr>
          <p:cNvPr id="1030" name="Picture 6" descr="AZDelivery Micro Servo Motor 9G compatible avec SG90 pour RC ...">
            <a:extLst>
              <a:ext uri="{FF2B5EF4-FFF2-40B4-BE49-F238E27FC236}">
                <a16:creationId xmlns:a16="http://schemas.microsoft.com/office/drawing/2014/main" id="{FA5D823B-9C56-4575-89A8-0AF15BEEA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938" y="3726965"/>
            <a:ext cx="1904898" cy="242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lumaa.fr/static/Untitled.png">
            <a:extLst>
              <a:ext uri="{FF2B5EF4-FFF2-40B4-BE49-F238E27FC236}">
                <a16:creationId xmlns:a16="http://schemas.microsoft.com/office/drawing/2014/main" id="{33AB8066-96EE-4114-8CEC-4DAAD649910D}"/>
              </a:ext>
            </a:extLst>
          </p:cNvPr>
          <p:cNvPicPr/>
          <p:nvPr/>
        </p:nvPicPr>
        <p:blipFill>
          <a:blip r:embed="rId6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8842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96036D8-21A1-4BB5-824B-87AC1E98C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2" y="1298181"/>
            <a:ext cx="3822516" cy="426163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01D312C-E801-47A0-A7DE-FD07FCCB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203" y="1298181"/>
            <a:ext cx="7397381" cy="439428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28E860B-FC63-4CE8-924A-9D3355BE2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533" y="2304838"/>
            <a:ext cx="842076" cy="97930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5192DC5-5D8F-4EC5-86F0-865363514C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878" y="4829103"/>
            <a:ext cx="584359" cy="575637"/>
          </a:xfrm>
          <a:prstGeom prst="rect">
            <a:avLst/>
          </a:prstGeom>
        </p:spPr>
      </p:pic>
      <p:pic>
        <p:nvPicPr>
          <p:cNvPr id="16" name="Picture 6" descr="AZDelivery Micro Servo Motor 9G compatible avec SG90 pour RC ...">
            <a:extLst>
              <a:ext uri="{FF2B5EF4-FFF2-40B4-BE49-F238E27FC236}">
                <a16:creationId xmlns:a16="http://schemas.microsoft.com/office/drawing/2014/main" id="{079965CF-AE99-4618-A871-CA4A2228E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421" y="4715297"/>
            <a:ext cx="838150" cy="106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875F1A6-A2CD-462D-9747-1DC7EB8F8273}"/>
              </a:ext>
            </a:extLst>
          </p:cNvPr>
          <p:cNvSpPr txBox="1"/>
          <p:nvPr/>
        </p:nvSpPr>
        <p:spPr>
          <a:xfrm>
            <a:off x="2741505" y="146590"/>
            <a:ext cx="49439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b="1" dirty="0"/>
              <a:t>Schéma de câblage</a:t>
            </a:r>
          </a:p>
        </p:txBody>
      </p:sp>
      <p:pic>
        <p:nvPicPr>
          <p:cNvPr id="18" name="Picture 4" descr="Carte Arduino Uno">
            <a:extLst>
              <a:ext uri="{FF2B5EF4-FFF2-40B4-BE49-F238E27FC236}">
                <a16:creationId xmlns:a16="http://schemas.microsoft.com/office/drawing/2014/main" id="{F8A601BE-A356-4755-BC16-0522FDC6D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14391" r="1807" b="15657"/>
          <a:stretch/>
        </p:blipFill>
        <p:spPr bwMode="auto">
          <a:xfrm>
            <a:off x="6744255" y="1325535"/>
            <a:ext cx="1342109" cy="97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s://lumaa.fr/static/Untitled.png">
            <a:extLst>
              <a:ext uri="{FF2B5EF4-FFF2-40B4-BE49-F238E27FC236}">
                <a16:creationId xmlns:a16="http://schemas.microsoft.com/office/drawing/2014/main" id="{E27B8F11-39EF-4DC6-991F-AFBE05166825}"/>
              </a:ext>
            </a:extLst>
          </p:cNvPr>
          <p:cNvPicPr/>
          <p:nvPr/>
        </p:nvPicPr>
        <p:blipFill>
          <a:blip r:embed="rId8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28439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36044-82BA-4908-9CF3-8A742EA1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du prototype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DBBAE2-08DC-46DC-A76C-0EB1F0551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80" y="5475249"/>
            <a:ext cx="823150" cy="89617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9EA4EF-F620-4714-AC61-129035A22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94296" flipH="1">
            <a:off x="3009934" y="3946706"/>
            <a:ext cx="1662959" cy="19339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633C17-77D1-4170-B6D3-5A4F933F0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20" y="4465601"/>
            <a:ext cx="982469" cy="89617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51097C-11C1-453A-AC1B-139D21DC1D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20" y="3455953"/>
            <a:ext cx="1139416" cy="896171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BF8595C-2535-48A8-AFCC-29CD2EE42E1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669236" y="3904039"/>
            <a:ext cx="1207779" cy="10096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2853593-C329-47D4-9EFF-A015EEF6029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512289" y="4913687"/>
            <a:ext cx="136472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3060B4D1-7281-47D2-B9CD-BCE9963EF31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432630" y="4913686"/>
            <a:ext cx="1444385" cy="1009649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4" descr="Carte Arduino Uno">
            <a:extLst>
              <a:ext uri="{FF2B5EF4-FFF2-40B4-BE49-F238E27FC236}">
                <a16:creationId xmlns:a16="http://schemas.microsoft.com/office/drawing/2014/main" id="{2F93CB7D-19AF-4FD8-A3B2-3FCBD87E5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14391" r="1807" b="15657"/>
          <a:stretch/>
        </p:blipFill>
        <p:spPr bwMode="auto">
          <a:xfrm>
            <a:off x="5302351" y="3990988"/>
            <a:ext cx="2529067" cy="184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E12F4903-B325-4A2F-A2D5-F653BE6C8A5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783873" y="4913686"/>
            <a:ext cx="51847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B33C325-9D6A-4C0E-A7EC-4EDE4010E246}"/>
              </a:ext>
            </a:extLst>
          </p:cNvPr>
          <p:cNvCxnSpPr>
            <a:cxnSpLocks/>
            <a:stCxn id="29" idx="3"/>
            <a:endCxn id="57" idx="1"/>
          </p:cNvCxnSpPr>
          <p:nvPr/>
        </p:nvCxnSpPr>
        <p:spPr>
          <a:xfrm>
            <a:off x="7831418" y="4913686"/>
            <a:ext cx="1417076" cy="10093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2153191-FAC9-4CF7-AE58-3ED21ABE71C9}"/>
              </a:ext>
            </a:extLst>
          </p:cNvPr>
          <p:cNvCxnSpPr>
            <a:cxnSpLocks/>
            <a:stCxn id="29" idx="3"/>
            <a:endCxn id="54" idx="1"/>
          </p:cNvCxnSpPr>
          <p:nvPr/>
        </p:nvCxnSpPr>
        <p:spPr>
          <a:xfrm flipV="1">
            <a:off x="7831418" y="4190122"/>
            <a:ext cx="1417076" cy="72356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D0555919-3CD6-4096-9602-1A3C819CA9A5}"/>
              </a:ext>
            </a:extLst>
          </p:cNvPr>
          <p:cNvCxnSpPr>
            <a:cxnSpLocks/>
            <a:stCxn id="29" idx="3"/>
            <a:endCxn id="48" idx="1"/>
          </p:cNvCxnSpPr>
          <p:nvPr/>
        </p:nvCxnSpPr>
        <p:spPr>
          <a:xfrm flipV="1">
            <a:off x="7831418" y="2473303"/>
            <a:ext cx="1422443" cy="2440383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 47">
            <a:extLst>
              <a:ext uri="{FF2B5EF4-FFF2-40B4-BE49-F238E27FC236}">
                <a16:creationId xmlns:a16="http://schemas.microsoft.com/office/drawing/2014/main" id="{955B3D05-E87F-45A6-93FC-8FA7583E71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861" y="1640495"/>
            <a:ext cx="1690852" cy="1665615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C2F30795-34F1-467A-B668-5B00A846E6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494" y="3352027"/>
            <a:ext cx="1701587" cy="1676190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698F9C74-6914-42D1-B0E2-9BD67BA886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494" y="5084956"/>
            <a:ext cx="1701587" cy="1676190"/>
          </a:xfrm>
          <a:prstGeom prst="rect">
            <a:avLst/>
          </a:prstGeom>
        </p:spPr>
      </p:pic>
      <p:pic>
        <p:nvPicPr>
          <p:cNvPr id="62" name="Picture 6" descr="AZDelivery Micro Servo Motor 9G compatible avec SG90 pour RC ...">
            <a:extLst>
              <a:ext uri="{FF2B5EF4-FFF2-40B4-BE49-F238E27FC236}">
                <a16:creationId xmlns:a16="http://schemas.microsoft.com/office/drawing/2014/main" id="{4FAA3492-EB7A-4A2B-B8D0-489BAF984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0255" y="3688214"/>
            <a:ext cx="838150" cy="106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" descr="AZDelivery Micro Servo Motor 9G compatible avec SG90 pour RC ...">
            <a:extLst>
              <a:ext uri="{FF2B5EF4-FFF2-40B4-BE49-F238E27FC236}">
                <a16:creationId xmlns:a16="http://schemas.microsoft.com/office/drawing/2014/main" id="{777E0FD1-B2E6-4566-8A44-634D62A8D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0255" y="5390579"/>
            <a:ext cx="838150" cy="106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https://lumaa.fr/static/Untitled.png">
            <a:extLst>
              <a:ext uri="{FF2B5EF4-FFF2-40B4-BE49-F238E27FC236}">
                <a16:creationId xmlns:a16="http://schemas.microsoft.com/office/drawing/2014/main" id="{0DBF3E10-9D59-4DDC-9B38-75B1575D641B}"/>
              </a:ext>
            </a:extLst>
          </p:cNvPr>
          <p:cNvPicPr/>
          <p:nvPr/>
        </p:nvPicPr>
        <p:blipFill>
          <a:blip r:embed="rId11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87945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BEDBB-B9CF-489D-9961-9E7F03D6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</p:spPr>
        <p:txBody>
          <a:bodyPr/>
          <a:lstStyle/>
          <a:p>
            <a:r>
              <a:rPr lang="fr-FR" dirty="0"/>
              <a:t>Algorithme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B7CB749-1BF0-457E-B354-AF0D414A6AFB}"/>
              </a:ext>
            </a:extLst>
          </p:cNvPr>
          <p:cNvSpPr/>
          <p:nvPr/>
        </p:nvSpPr>
        <p:spPr>
          <a:xfrm>
            <a:off x="4414237" y="289090"/>
            <a:ext cx="3362899" cy="649189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Début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257357F-FE5A-413B-982A-8E8E56051788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>
            <a:off x="6095687" y="938279"/>
            <a:ext cx="0" cy="10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1958DAA-1C2C-4B4B-B7A0-A219ECC3774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095686" y="3118308"/>
            <a:ext cx="0" cy="2866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D61CC415-A2D6-4509-B78D-B6E86EB44100}"/>
              </a:ext>
            </a:extLst>
          </p:cNvPr>
          <p:cNvCxnSpPr>
            <a:cxnSpLocks/>
          </p:cNvCxnSpPr>
          <p:nvPr/>
        </p:nvCxnSpPr>
        <p:spPr>
          <a:xfrm flipH="1">
            <a:off x="6095685" y="2080470"/>
            <a:ext cx="1" cy="1437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50C6CBD-7005-4EEF-8157-484B9B172DF9}"/>
              </a:ext>
            </a:extLst>
          </p:cNvPr>
          <p:cNvCxnSpPr>
            <a:cxnSpLocks/>
          </p:cNvCxnSpPr>
          <p:nvPr/>
        </p:nvCxnSpPr>
        <p:spPr>
          <a:xfrm>
            <a:off x="8627734" y="2142033"/>
            <a:ext cx="11441" cy="18543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7A2837A-D0A6-4B80-B268-F92527FABBA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777136" y="3996396"/>
            <a:ext cx="8620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4EC2743-73CD-4CAB-9D76-889C621A760B}"/>
              </a:ext>
            </a:extLst>
          </p:cNvPr>
          <p:cNvCxnSpPr>
            <a:cxnSpLocks/>
          </p:cNvCxnSpPr>
          <p:nvPr/>
        </p:nvCxnSpPr>
        <p:spPr>
          <a:xfrm>
            <a:off x="6095685" y="2142033"/>
            <a:ext cx="25434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DA690-1E1E-429D-9AED-3748449A8E4B}"/>
              </a:ext>
            </a:extLst>
          </p:cNvPr>
          <p:cNvSpPr/>
          <p:nvPr/>
        </p:nvSpPr>
        <p:spPr>
          <a:xfrm>
            <a:off x="4414236" y="2224222"/>
            <a:ext cx="3362900" cy="1036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Allumer la matrice en vert</a:t>
            </a:r>
            <a:br>
              <a:rPr lang="fr-FR" dirty="0"/>
            </a:br>
            <a:r>
              <a:rPr lang="fr-FR" dirty="0"/>
              <a:t>Arrêter le servomoteur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09549F-198F-4F40-B1AF-EB004C886161}"/>
              </a:ext>
            </a:extLst>
          </p:cNvPr>
          <p:cNvSpPr/>
          <p:nvPr/>
        </p:nvSpPr>
        <p:spPr>
          <a:xfrm>
            <a:off x="4414237" y="1043472"/>
            <a:ext cx="3362900" cy="1036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Obtenir le niveau sonore du microphone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96780333-2F52-4EB7-894E-8F0D8164DF5E}"/>
              </a:ext>
            </a:extLst>
          </p:cNvPr>
          <p:cNvCxnSpPr>
            <a:cxnSpLocks/>
          </p:cNvCxnSpPr>
          <p:nvPr/>
        </p:nvCxnSpPr>
        <p:spPr>
          <a:xfrm>
            <a:off x="6095685" y="4515308"/>
            <a:ext cx="0" cy="2866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osange 8">
            <a:extLst>
              <a:ext uri="{FF2B5EF4-FFF2-40B4-BE49-F238E27FC236}">
                <a16:creationId xmlns:a16="http://schemas.microsoft.com/office/drawing/2014/main" id="{E5FC157B-06D5-41BB-9B1A-AFE14BEB34E6}"/>
              </a:ext>
            </a:extLst>
          </p:cNvPr>
          <p:cNvSpPr/>
          <p:nvPr/>
        </p:nvSpPr>
        <p:spPr>
          <a:xfrm>
            <a:off x="4414236" y="3404972"/>
            <a:ext cx="3362900" cy="118284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 niveau sonore &gt;= 250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2FC855-9FA1-48FD-A704-3BF0BA1D3A07}"/>
              </a:ext>
            </a:extLst>
          </p:cNvPr>
          <p:cNvSpPr/>
          <p:nvPr/>
        </p:nvSpPr>
        <p:spPr>
          <a:xfrm>
            <a:off x="4414235" y="4682914"/>
            <a:ext cx="3362900" cy="1036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Allumer la matrice en orange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296F4A64-6E02-482C-96C4-B8F1B12AC074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6108070" y="5719912"/>
            <a:ext cx="0" cy="1190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65B62657-EDBE-49C2-B625-6A94E7B63BE0}"/>
              </a:ext>
            </a:extLst>
          </p:cNvPr>
          <p:cNvCxnSpPr>
            <a:cxnSpLocks/>
          </p:cNvCxnSpPr>
          <p:nvPr/>
        </p:nvCxnSpPr>
        <p:spPr>
          <a:xfrm>
            <a:off x="8639175" y="4618302"/>
            <a:ext cx="0" cy="1687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6BC94A7C-54CB-4157-93C7-C696909277C0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7789520" y="6305952"/>
            <a:ext cx="86203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398C8CF0-B3DE-4D91-B729-D03C28065188}"/>
              </a:ext>
            </a:extLst>
          </p:cNvPr>
          <p:cNvCxnSpPr>
            <a:cxnSpLocks/>
          </p:cNvCxnSpPr>
          <p:nvPr/>
        </p:nvCxnSpPr>
        <p:spPr>
          <a:xfrm>
            <a:off x="6108069" y="4618302"/>
            <a:ext cx="25434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osange 49">
            <a:extLst>
              <a:ext uri="{FF2B5EF4-FFF2-40B4-BE49-F238E27FC236}">
                <a16:creationId xmlns:a16="http://schemas.microsoft.com/office/drawing/2014/main" id="{0F5C11D7-BBD2-49DE-A05B-B24BBC09E441}"/>
              </a:ext>
            </a:extLst>
          </p:cNvPr>
          <p:cNvSpPr/>
          <p:nvPr/>
        </p:nvSpPr>
        <p:spPr>
          <a:xfrm>
            <a:off x="4426620" y="5838971"/>
            <a:ext cx="3362900" cy="93396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 niveau sonore &gt;= 450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1DAE7EF9-E833-4908-A6F2-7CFC3A4153B1}"/>
              </a:ext>
            </a:extLst>
          </p:cNvPr>
          <p:cNvCxnSpPr>
            <a:cxnSpLocks/>
          </p:cNvCxnSpPr>
          <p:nvPr/>
        </p:nvCxnSpPr>
        <p:spPr>
          <a:xfrm>
            <a:off x="9709150" y="938279"/>
            <a:ext cx="0" cy="60835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D1A47240-44C5-4B59-B024-2DD17BFDAF8B}"/>
              </a:ext>
            </a:extLst>
          </p:cNvPr>
          <p:cNvCxnSpPr>
            <a:cxnSpLocks/>
          </p:cNvCxnSpPr>
          <p:nvPr/>
        </p:nvCxnSpPr>
        <p:spPr>
          <a:xfrm flipV="1">
            <a:off x="6095685" y="938279"/>
            <a:ext cx="3613465" cy="451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55C6BE8-2CF2-4CCC-8E50-8971EEFE7D4C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6108070" y="6772933"/>
            <a:ext cx="0" cy="2488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https://lumaa.fr/static/Untitled.png">
            <a:extLst>
              <a:ext uri="{FF2B5EF4-FFF2-40B4-BE49-F238E27FC236}">
                <a16:creationId xmlns:a16="http://schemas.microsoft.com/office/drawing/2014/main" id="{F6C5B144-DFE2-404B-B300-B44D436C9F80}"/>
              </a:ext>
            </a:extLst>
          </p:cNvPr>
          <p:cNvPicPr/>
          <p:nvPr/>
        </p:nvPicPr>
        <p:blipFill>
          <a:blip r:embed="rId2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62947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BEDBB-B9CF-489D-9961-9E7F03D6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</p:spPr>
        <p:txBody>
          <a:bodyPr/>
          <a:lstStyle/>
          <a:p>
            <a:r>
              <a:rPr lang="fr-FR" dirty="0"/>
              <a:t>Algorithme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96780333-2F52-4EB7-894E-8F0D8164DF5E}"/>
              </a:ext>
            </a:extLst>
          </p:cNvPr>
          <p:cNvCxnSpPr>
            <a:cxnSpLocks/>
          </p:cNvCxnSpPr>
          <p:nvPr/>
        </p:nvCxnSpPr>
        <p:spPr>
          <a:xfrm>
            <a:off x="6096000" y="2031"/>
            <a:ext cx="0" cy="2866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E2FC855-9FA1-48FD-A704-3BF0BA1D3A07}"/>
              </a:ext>
            </a:extLst>
          </p:cNvPr>
          <p:cNvSpPr/>
          <p:nvPr/>
        </p:nvSpPr>
        <p:spPr>
          <a:xfrm>
            <a:off x="4414550" y="169637"/>
            <a:ext cx="3362900" cy="1036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Allumer la matrice en orange</a:t>
            </a:r>
            <a:br>
              <a:rPr lang="fr-FR" dirty="0"/>
            </a:br>
            <a:r>
              <a:rPr lang="fr-FR" dirty="0"/>
              <a:t>Faire tourner le servomoteur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7584360-B0D1-4706-A87A-BA45691234BA}"/>
              </a:ext>
            </a:extLst>
          </p:cNvPr>
          <p:cNvCxnSpPr>
            <a:cxnSpLocks/>
          </p:cNvCxnSpPr>
          <p:nvPr/>
        </p:nvCxnSpPr>
        <p:spPr>
          <a:xfrm flipH="1">
            <a:off x="6107799" y="2531801"/>
            <a:ext cx="1" cy="1437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9201A5E-F8EA-47A9-A83B-47ECC9616F63}"/>
              </a:ext>
            </a:extLst>
          </p:cNvPr>
          <p:cNvCxnSpPr>
            <a:cxnSpLocks/>
          </p:cNvCxnSpPr>
          <p:nvPr/>
        </p:nvCxnSpPr>
        <p:spPr>
          <a:xfrm>
            <a:off x="8628048" y="86015"/>
            <a:ext cx="11441" cy="18543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3793F31-540B-4FAF-AF09-7FC8A3142A3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777450" y="1940378"/>
            <a:ext cx="8620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C1064EC-83CD-496B-86ED-5E6D4DCBD94C}"/>
              </a:ext>
            </a:extLst>
          </p:cNvPr>
          <p:cNvCxnSpPr>
            <a:cxnSpLocks/>
          </p:cNvCxnSpPr>
          <p:nvPr/>
        </p:nvCxnSpPr>
        <p:spPr>
          <a:xfrm>
            <a:off x="6095999" y="86015"/>
            <a:ext cx="25434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367FF-A39C-4E18-82B3-7D8ABD486E96}"/>
              </a:ext>
            </a:extLst>
          </p:cNvPr>
          <p:cNvSpPr/>
          <p:nvPr/>
        </p:nvSpPr>
        <p:spPr>
          <a:xfrm>
            <a:off x="4414249" y="2640139"/>
            <a:ext cx="3362900" cy="1036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Allumer la matrice en rouge</a:t>
            </a:r>
          </a:p>
          <a:p>
            <a:pPr algn="ctr"/>
            <a:r>
              <a:rPr lang="fr-FR" dirty="0"/>
              <a:t>Faire tourner le servomoteur</a:t>
            </a:r>
          </a:p>
        </p:txBody>
      </p:sp>
      <p:sp>
        <p:nvSpPr>
          <p:cNvPr id="20" name="Losange 19">
            <a:extLst>
              <a:ext uri="{FF2B5EF4-FFF2-40B4-BE49-F238E27FC236}">
                <a16:creationId xmlns:a16="http://schemas.microsoft.com/office/drawing/2014/main" id="{048E613E-183E-4991-ADAD-51C6F4B3A441}"/>
              </a:ext>
            </a:extLst>
          </p:cNvPr>
          <p:cNvSpPr/>
          <p:nvPr/>
        </p:nvSpPr>
        <p:spPr>
          <a:xfrm>
            <a:off x="4414550" y="1348954"/>
            <a:ext cx="3362900" cy="118284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 niveau sonore &gt;= 450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B93EEF4-6D24-4787-AA33-D692788F58C8}"/>
              </a:ext>
            </a:extLst>
          </p:cNvPr>
          <p:cNvCxnSpPr>
            <a:cxnSpLocks/>
          </p:cNvCxnSpPr>
          <p:nvPr/>
        </p:nvCxnSpPr>
        <p:spPr>
          <a:xfrm flipH="1">
            <a:off x="6095699" y="1206635"/>
            <a:ext cx="1" cy="1437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FA0C465-AB7C-4793-99C2-ECD721C9B330}"/>
              </a:ext>
            </a:extLst>
          </p:cNvPr>
          <p:cNvCxnSpPr>
            <a:cxnSpLocks/>
          </p:cNvCxnSpPr>
          <p:nvPr/>
        </p:nvCxnSpPr>
        <p:spPr>
          <a:xfrm flipH="1">
            <a:off x="6107799" y="3679487"/>
            <a:ext cx="1" cy="1437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A12F7459-7AB5-4387-B366-1225328B067C}"/>
              </a:ext>
            </a:extLst>
          </p:cNvPr>
          <p:cNvCxnSpPr>
            <a:cxnSpLocks/>
          </p:cNvCxnSpPr>
          <p:nvPr/>
        </p:nvCxnSpPr>
        <p:spPr>
          <a:xfrm>
            <a:off x="6107799" y="3823239"/>
            <a:ext cx="35505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C5E4613-F2DA-413A-99E8-94107B915F6E}"/>
              </a:ext>
            </a:extLst>
          </p:cNvPr>
          <p:cNvCxnSpPr>
            <a:cxnSpLocks/>
          </p:cNvCxnSpPr>
          <p:nvPr/>
        </p:nvCxnSpPr>
        <p:spPr>
          <a:xfrm flipH="1">
            <a:off x="9658350" y="0"/>
            <a:ext cx="50800" cy="3823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https://lumaa.fr/static/Untitled.png">
            <a:extLst>
              <a:ext uri="{FF2B5EF4-FFF2-40B4-BE49-F238E27FC236}">
                <a16:creationId xmlns:a16="http://schemas.microsoft.com/office/drawing/2014/main" id="{5739F138-0F18-48BB-88A3-54241ECDC72F}"/>
              </a:ext>
            </a:extLst>
          </p:cNvPr>
          <p:cNvPicPr/>
          <p:nvPr/>
        </p:nvPicPr>
        <p:blipFill>
          <a:blip r:embed="rId2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8863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77D0D2-D966-468C-93F2-E3DE3CCE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792058-9B68-41CB-B6A2-E98DEE87997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281134"/>
            <a:ext cx="10972440" cy="2432222"/>
          </a:xfrm>
        </p:spPr>
        <p:txBody>
          <a:bodyPr/>
          <a:lstStyle/>
          <a:p>
            <a:r>
              <a:rPr lang="fr-FR" sz="3600" dirty="0"/>
              <a:t>- Dispositif affichant le niveau sonore</a:t>
            </a:r>
          </a:p>
          <a:p>
            <a:r>
              <a:rPr lang="fr-FR" sz="3600" dirty="0"/>
              <a:t>- Festivals et concerts</a:t>
            </a:r>
          </a:p>
          <a:p>
            <a:r>
              <a:rPr lang="fr-FR" sz="3600" dirty="0"/>
              <a:t>- Installation couteuse, mais rentable</a:t>
            </a:r>
          </a:p>
        </p:txBody>
      </p:sp>
      <p:pic>
        <p:nvPicPr>
          <p:cNvPr id="4" name="Picture 2" descr="https://lumaa.fr/static/Untitled.png">
            <a:extLst>
              <a:ext uri="{FF2B5EF4-FFF2-40B4-BE49-F238E27FC236}">
                <a16:creationId xmlns:a16="http://schemas.microsoft.com/office/drawing/2014/main" id="{9771493B-EC42-494B-A1BF-318661164948}"/>
              </a:ext>
            </a:extLst>
          </p:cNvPr>
          <p:cNvPicPr/>
          <p:nvPr/>
        </p:nvPicPr>
        <p:blipFill>
          <a:blip r:embed="rId2"/>
          <a:srcRect r="50001"/>
          <a:stretch/>
        </p:blipFill>
        <p:spPr>
          <a:xfrm>
            <a:off x="10383826" y="0"/>
            <a:ext cx="1808174" cy="1808174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From Bob Dylan to Queen: The 10 most memorable moments from 'Live Aid' -  Far Out Magazine">
            <a:extLst>
              <a:ext uri="{FF2B5EF4-FFF2-40B4-BE49-F238E27FC236}">
                <a16:creationId xmlns:a16="http://schemas.microsoft.com/office/drawing/2014/main" id="{5C0736C8-8D1C-4077-BE53-20349854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"/>
          <a:stretch/>
        </p:blipFill>
        <p:spPr bwMode="auto">
          <a:xfrm>
            <a:off x="7441417" y="3534937"/>
            <a:ext cx="4683677" cy="326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48329F-4BA3-45B7-8F7E-85942D5652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"/>
          <a:stretch/>
        </p:blipFill>
        <p:spPr>
          <a:xfrm>
            <a:off x="66306" y="3534937"/>
            <a:ext cx="4795264" cy="3267307"/>
          </a:xfrm>
          <a:prstGeom prst="rect">
            <a:avLst/>
          </a:prstGeom>
        </p:spPr>
      </p:pic>
      <p:pic>
        <p:nvPicPr>
          <p:cNvPr id="1034" name="Picture 10" descr="Feldup on X: &quot;Merci encore pour le concert d'hier, c'était vraiment fou !  Hate de vous voir le 22 au petit bain, la salle est complète donc ça va  être le feu">
            <a:extLst>
              <a:ext uri="{FF2B5EF4-FFF2-40B4-BE49-F238E27FC236}">
                <a16:creationId xmlns:a16="http://schemas.microsoft.com/office/drawing/2014/main" id="{867A17AB-C995-4D72-A243-73A86AB2B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3"/>
          <a:stretch/>
        </p:blipFill>
        <p:spPr bwMode="auto">
          <a:xfrm>
            <a:off x="4888578" y="3534937"/>
            <a:ext cx="2521467" cy="326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84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126</Words>
  <Application>Microsoft Office PowerPoint</Application>
  <PresentationFormat>Grand écran</PresentationFormat>
  <Paragraphs>35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Soundfest</vt:lpstr>
      <vt:lpstr>Problématique</vt:lpstr>
      <vt:lpstr>Solution trouvée</vt:lpstr>
      <vt:lpstr>BDD</vt:lpstr>
      <vt:lpstr>Présentation PowerPoint</vt:lpstr>
      <vt:lpstr>Tâche : Gestion</vt:lpstr>
      <vt:lpstr>Présentation PowerPoint</vt:lpstr>
      <vt:lpstr>Fonctionnement du prototype</vt:lpstr>
      <vt:lpstr>Algorithme</vt:lpstr>
      <vt:lpstr>Algorithme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Soundfest - Présentation</dc:title>
  <dc:subject/>
  <dc:creator>Bondevine Nathan</dc:creator>
  <dc:description/>
  <cp:lastModifiedBy>BONDEVINE Nathan Philippe Jacques</cp:lastModifiedBy>
  <cp:revision>87</cp:revision>
  <dcterms:created xsi:type="dcterms:W3CDTF">2025-05-15T06:41:22Z</dcterms:created>
  <dcterms:modified xsi:type="dcterms:W3CDTF">2025-09-10T07:47:33Z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2</vt:i4>
  </property>
</Properties>
</file>